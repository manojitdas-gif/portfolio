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C9A84C"/>
                </a:solidFill>
                <a:latin typeface="Courier New"/>
              </a:defRPr>
            </a:pPr>
            <a:r>
              <a:t>FOUNDER | OPERATIONS ASSOCIATE | DATA ANALYST</a:t>
            </a:r>
          </a:p>
          <a:p>
            <a:pPr>
              <a:spcAft>
                <a:spcPts val="1000"/>
              </a:spcAft>
              <a:defRPr sz="5600" b="1">
                <a:solidFill>
                  <a:srgbClr val="F0EEFC"/>
                </a:solidFill>
                <a:latin typeface="Arial"/>
              </a:defRPr>
            </a:pPr>
            <a:r>
              <a:t>MANOJIT DAS</a:t>
            </a:r>
          </a:p>
          <a:p>
            <a:pPr>
              <a:spcAft>
                <a:spcPts val="3000"/>
              </a:spcAft>
              <a:defRPr sz="1500">
                <a:solidFill>
                  <a:srgbClr val="A09EC0"/>
                </a:solidFill>
                <a:latin typeface="Arial"/>
              </a:defRPr>
            </a:pPr>
            <a:r>
              <a:t>Digital Operations and Analytical Dashboard Portfolio Review.</a:t>
            </a:r>
            <a:br/>
            <a:r>
              <a:t>Built with high-precision metrics, interactive AI integration models, and digital transformation layouts for offline traditional vendors.</a:t>
            </a:r>
          </a:p>
          <a:p>
            <a:pPr>
              <a:defRPr sz="1100">
                <a:solidFill>
                  <a:srgbClr val="36D9C4"/>
                </a:solidFill>
                <a:latin typeface="Courier New"/>
              </a:defRPr>
            </a:pPr>
            <a:r>
              <a:t>Live Portfolio: portfolio-delta-nine-buockq1joj.vercel.app</a:t>
            </a:r>
            <a:br/>
            <a:r>
              <a:t>Location: Kolkata, India | Contact: manojitdas876@gmail.com</a:t>
            </a:r>
          </a:p>
        </p:txBody>
      </p:sp>
      <p:pic>
        <p:nvPicPr>
          <p:cNvPr id="3" name="Picture 2" descr="0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97280"/>
            <a:ext cx="45720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84C"/>
                </a:solidFill>
                <a:latin typeface="Courier New"/>
              </a:defRPr>
            </a:pPr>
            <a:r>
              <a:t>01 -- PROFILE DETAILS</a:t>
            </a:r>
          </a:p>
          <a:p>
            <a:pPr>
              <a:defRPr sz="2800" b="1">
                <a:solidFill>
                  <a:srgbClr val="F0EEFC"/>
                </a:solidFill>
                <a:latin typeface="Arial"/>
              </a:defRPr>
            </a:pPr>
            <a:r>
              <a:t>Operations Mindset &amp; Analytical Precision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400" b="1">
                <a:solidFill>
                  <a:srgbClr val="C9A84C"/>
                </a:solidFill>
                <a:latin typeface="Arial"/>
              </a:defRPr>
            </a:pPr>
            <a:r>
              <a:t>• Core Professional Focus: </a:t>
            </a:r>
            <a:r>
              <a:rPr sz="1300" b="0">
                <a:solidFill>
                  <a:srgbClr val="A09EC0"/>
                </a:solidFill>
                <a:latin typeface="Arial"/>
              </a:rPr>
              <a:t>Results-oriented Office &amp; Operations Associate and Data Analyst with hands-on experience managing high-volume administrative workflows, data operations, and customer success targets.</a:t>
            </a:r>
          </a:p>
          <a:p>
            <a:pPr>
              <a:spcAft>
                <a:spcPts val="1400"/>
              </a:spcAft>
              <a:defRPr sz="1400" b="1">
                <a:solidFill>
                  <a:srgbClr val="C9A84C"/>
                </a:solidFill>
                <a:latin typeface="Arial"/>
              </a:defRPr>
            </a:pPr>
            <a:r>
              <a:t>• Founder of Growthlytics: </a:t>
            </a:r>
            <a:r>
              <a:rPr sz="1300" b="0">
                <a:solidFill>
                  <a:srgbClr val="A09EC0"/>
                </a:solidFill>
                <a:latin typeface="Arial"/>
              </a:rPr>
              <a:t>Assists local traditional vendors and offline businesses in West Bengal to go digital, launch online ordering, and automate invoicing.</a:t>
            </a:r>
          </a:p>
          <a:p>
            <a:pPr>
              <a:spcAft>
                <a:spcPts val="1400"/>
              </a:spcAft>
              <a:defRPr sz="1400" b="1">
                <a:solidFill>
                  <a:srgbClr val="C9A84C"/>
                </a:solidFill>
                <a:latin typeface="Arial"/>
              </a:defRPr>
            </a:pPr>
            <a:r>
              <a:t>• Background &amp; Experience: </a:t>
            </a:r>
            <a:r>
              <a:rPr sz="1300" b="0">
                <a:solidFill>
                  <a:srgbClr val="A09EC0"/>
                </a:solidFill>
                <a:latin typeface="Arial"/>
              </a:rPr>
              <a:t>Managed 50+ daily inbound/outbound customer interactions at Tech Mahindra; completed Business Analytics internships at Bharat Intern; operations coordinator at E-Cell IIT Bombay.</a:t>
            </a:r>
          </a:p>
          <a:p>
            <a:pPr>
              <a:spcAft>
                <a:spcPts val="1400"/>
              </a:spcAft>
              <a:defRPr sz="1400" b="1">
                <a:solidFill>
                  <a:srgbClr val="C9A84C"/>
                </a:solidFill>
                <a:latin typeface="Arial"/>
              </a:defRPr>
            </a:pPr>
            <a:r>
              <a:t>• Core Philosophy: </a:t>
            </a:r>
            <a:r>
              <a:rPr sz="1300" b="0">
                <a:solidFill>
                  <a:srgbClr val="A09EC0"/>
                </a:solidFill>
                <a:latin typeface="Arial"/>
              </a:rPr>
              <a:t>Bridging the gap between technical data structures (SQL, Power BI, Advanced Excel) and direct customer success and client-facing communication.</a:t>
            </a:r>
          </a:p>
        </p:txBody>
      </p:sp>
      <p:pic>
        <p:nvPicPr>
          <p:cNvPr id="4" name="Picture 3" descr="02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63040"/>
            <a:ext cx="4846320" cy="27260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84C"/>
                </a:solidFill>
                <a:latin typeface="Courier New"/>
              </a:defRPr>
            </a:pPr>
            <a:r>
              <a:t>02 -- EXPERTISE MATRIX</a:t>
            </a:r>
          </a:p>
          <a:p>
            <a:pPr>
              <a:defRPr sz="2800" b="1">
                <a:solidFill>
                  <a:srgbClr val="F0EEFC"/>
                </a:solidFill>
                <a:latin typeface="Arial"/>
              </a:defRPr>
            </a:pPr>
            <a:r>
              <a:t>Core Professional Competencies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 b="1">
                <a:solidFill>
                  <a:srgbClr val="36D9C4"/>
                </a:solidFill>
                <a:latin typeface="Arial"/>
              </a:defRPr>
            </a:pPr>
            <a:r>
              <a:t>• Digital Operations &amp; Automation (85%)</a:t>
            </a:r>
            <a:br/>
            <a:r>
              <a:rPr sz="1200" b="0">
                <a:solidFill>
                  <a:srgbClr val="A09EC0"/>
                </a:solidFill>
                <a:latin typeface="Arial"/>
              </a:rPr>
              <a:t>Process digitization, vendor onboarding, campaign tracking, and operations dashboards.</a:t>
            </a:r>
          </a:p>
          <a:p>
            <a:pPr>
              <a:spcAft>
                <a:spcPts val="1000"/>
              </a:spcAft>
              <a:defRPr sz="1400" b="1">
                <a:solidFill>
                  <a:srgbClr val="36D9C4"/>
                </a:solidFill>
                <a:latin typeface="Arial"/>
              </a:defRPr>
            </a:pPr>
            <a:r>
              <a:t>• Customer Success &amp; SLA Handling (90%)</a:t>
            </a:r>
            <a:br/>
            <a:r>
              <a:rPr sz="1200" b="0">
                <a:solidFill>
                  <a:srgbClr val="A09EC0"/>
                </a:solidFill>
                <a:latin typeface="Arial"/>
              </a:rPr>
              <a:t>CRM tools, SLA tracking, ticket resolution, and customer satisfaction (CSAT) optimization.</a:t>
            </a:r>
          </a:p>
          <a:p>
            <a:pPr>
              <a:spcAft>
                <a:spcPts val="1000"/>
              </a:spcAft>
              <a:defRPr sz="1400" b="1">
                <a:solidFill>
                  <a:srgbClr val="36D9C4"/>
                </a:solidFill>
                <a:latin typeface="Arial"/>
              </a:defRPr>
            </a:pPr>
            <a:r>
              <a:t>• Business Analysis &amp; SQL Databases (80%)</a:t>
            </a:r>
            <a:br/>
            <a:r>
              <a:rPr sz="1200" b="0">
                <a:solidFill>
                  <a:srgbClr val="A09EC0"/>
                </a:solidFill>
                <a:latin typeface="Arial"/>
              </a:rPr>
              <a:t>Writing complex relational queries, data cleansing, structuring data, and Power BI report building.</a:t>
            </a:r>
          </a:p>
          <a:p>
            <a:pPr>
              <a:spcAft>
                <a:spcPts val="1000"/>
              </a:spcAft>
              <a:defRPr sz="1400" b="1">
                <a:solidFill>
                  <a:srgbClr val="36D9C4"/>
                </a:solidFill>
                <a:latin typeface="Arial"/>
              </a:defRPr>
            </a:pPr>
            <a:r>
              <a:t>• AI Integration &amp; Prompt Engineering (70%)</a:t>
            </a:r>
            <a:br/>
            <a:r>
              <a:rPr sz="1200" b="0">
                <a:solidFill>
                  <a:srgbClr val="A09EC0"/>
                </a:solidFill>
                <a:latin typeface="Arial"/>
              </a:rPr>
              <a:t>Leveraging Google Gemini APIs, SDKs, and prompt models to automate text-based business advisories.</a:t>
            </a:r>
          </a:p>
          <a:p>
            <a:pPr>
              <a:spcAft>
                <a:spcPts val="1000"/>
              </a:spcAft>
              <a:defRPr sz="1400" b="1">
                <a:solidFill>
                  <a:srgbClr val="36D9C4"/>
                </a:solidFill>
                <a:latin typeface="Arial"/>
              </a:defRPr>
            </a:pPr>
            <a:r>
              <a:t>• Web Development &amp; Static Layouts (75%)</a:t>
            </a:r>
            <a:br/>
            <a:r>
              <a:rPr sz="1200" b="0">
                <a:solidFill>
                  <a:srgbClr val="A09EC0"/>
                </a:solidFill>
                <a:latin typeface="Arial"/>
              </a:rPr>
              <a:t>React, TypeScript, CSS custom templates, and responsive frontend design.</a:t>
            </a:r>
          </a:p>
          <a:p>
            <a:pPr>
              <a:spcAft>
                <a:spcPts val="1000"/>
              </a:spcAft>
              <a:defRPr sz="1400" b="1">
                <a:solidFill>
                  <a:srgbClr val="36D9C4"/>
                </a:solidFill>
                <a:latin typeface="Arial"/>
              </a:defRPr>
            </a:pPr>
            <a:r>
              <a:t>• Financial Accounting (72%)</a:t>
            </a:r>
            <a:br/>
            <a:r>
              <a:rPr sz="1200" b="0">
                <a:solidFill>
                  <a:srgbClr val="A09EC0"/>
                </a:solidFill>
                <a:latin typeface="Arial"/>
              </a:rPr>
              <a:t>Capital markets, ledger posting, and invoicing (Tally ERP).</a:t>
            </a:r>
          </a:p>
        </p:txBody>
      </p:sp>
      <p:pic>
        <p:nvPicPr>
          <p:cNvPr id="4" name="Picture 3" descr="03_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84C"/>
                </a:solidFill>
                <a:latin typeface="Courier New"/>
              </a:defRPr>
            </a:pPr>
            <a:r>
              <a:t>03 -- AI SOLUTIONS</a:t>
            </a:r>
          </a:p>
          <a:p>
            <a:pPr>
              <a:defRPr sz="2800" b="1">
                <a:solidFill>
                  <a:srgbClr val="F0EEFC"/>
                </a:solidFill>
                <a:latin typeface="Arial"/>
              </a:defRPr>
            </a:pPr>
            <a:r>
              <a:t>Growthlytics AI Problem Solver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C9A84C"/>
                </a:solidFill>
                <a:latin typeface="Courier New"/>
              </a:defRPr>
            </a:pPr>
            <a:r>
              <a:t>Interactive Terminal Simulation:</a:t>
            </a:r>
          </a:p>
          <a:p>
            <a:pPr>
              <a:spcAft>
                <a:spcPts val="1400"/>
              </a:spcAft>
              <a:defRPr sz="1400" b="1">
                <a:solidFill>
                  <a:srgbClr val="F0EEFC"/>
                </a:solidFill>
                <a:latin typeface="Arial"/>
              </a:defRPr>
            </a:pPr>
            <a:r>
              <a:t>• Goal: </a:t>
            </a:r>
            <a:r>
              <a:rPr sz="1300" b="0">
                <a:solidFill>
                  <a:srgbClr val="A09EC0"/>
                </a:solidFill>
                <a:latin typeface="Arial"/>
              </a:rPr>
              <a:t>Address the operational bottlenecks of local traditional shops converting to digital formats.</a:t>
            </a:r>
          </a:p>
          <a:p>
            <a:pPr>
              <a:spcAft>
                <a:spcPts val="1400"/>
              </a:spcAft>
              <a:defRPr sz="1400" b="1">
                <a:solidFill>
                  <a:srgbClr val="F0EEFC"/>
                </a:solidFill>
                <a:latin typeface="Arial"/>
              </a:defRPr>
            </a:pPr>
            <a:r>
              <a:t>• Implementation: </a:t>
            </a:r>
            <a:r>
              <a:rPr sz="1300" b="0">
                <a:solidFill>
                  <a:srgbClr val="A09EC0"/>
                </a:solidFill>
                <a:latin typeface="Arial"/>
              </a:rPr>
              <a:t>An embedded simulation terminal mimicking a server terminal node (`system@growthlytics:~#`).</a:t>
            </a:r>
          </a:p>
          <a:p>
            <a:pPr>
              <a:spcAft>
                <a:spcPts val="1400"/>
              </a:spcAft>
              <a:defRPr sz="1400" b="1">
                <a:solidFill>
                  <a:srgbClr val="F0EEFC"/>
                </a:solidFill>
                <a:latin typeface="Arial"/>
              </a:defRPr>
            </a:pPr>
            <a:r>
              <a:t>• Dynamic Mechanics: </a:t>
            </a:r>
            <a:r>
              <a:rPr sz="1300" b="0">
                <a:solidFill>
                  <a:srgbClr val="A09EC0"/>
                </a:solidFill>
                <a:latin typeface="Arial"/>
              </a:rPr>
              <a:t>Users type issues (e.g. 'manual entry mistakes') and the model generates operational solutions on-screen.</a:t>
            </a:r>
          </a:p>
          <a:p>
            <a:pPr>
              <a:spcAft>
                <a:spcPts val="1400"/>
              </a:spcAft>
              <a:defRPr sz="1400" b="1">
                <a:solidFill>
                  <a:srgbClr val="F0EEFC"/>
                </a:solidFill>
                <a:latin typeface="Arial"/>
              </a:defRPr>
            </a:pPr>
            <a:r>
              <a:t>• Strategic Impact: </a:t>
            </a:r>
            <a:r>
              <a:rPr sz="1300" b="0">
                <a:solidFill>
                  <a:srgbClr val="A09EC0"/>
                </a:solidFill>
                <a:latin typeface="Arial"/>
              </a:rPr>
              <a:t>Highlights the bridging of LLM APIs with real-world small business workflows.</a:t>
            </a:r>
          </a:p>
        </p:txBody>
      </p:sp>
      <p:pic>
        <p:nvPicPr>
          <p:cNvPr id="4" name="Picture 3" descr="04_ai_ad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84C"/>
                </a:solidFill>
                <a:latin typeface="Courier New"/>
              </a:defRPr>
            </a:pPr>
            <a:r>
              <a:t>04 -- FEATURED PRODUCT</a:t>
            </a:r>
          </a:p>
          <a:p>
            <a:pPr>
              <a:defRPr sz="2800" b="1">
                <a:solidFill>
                  <a:srgbClr val="F0EEFC"/>
                </a:solidFill>
                <a:latin typeface="Arial"/>
              </a:defRPr>
            </a:pPr>
            <a:r>
              <a:t>Pinned Project: SkillsElevate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400" b="1">
                <a:solidFill>
                  <a:srgbClr val="7C6AF0"/>
                </a:solidFill>
                <a:latin typeface="Arial"/>
              </a:defRPr>
            </a:pPr>
            <a:r>
              <a:t>• Core Description: </a:t>
            </a:r>
            <a:r>
              <a:rPr sz="1300" b="0">
                <a:solidFill>
                  <a:srgbClr val="A09EC0"/>
                </a:solidFill>
                <a:latin typeface="Arial"/>
              </a:rPr>
              <a:t>An educational upskilling portal engineered to help working professionals and students upgrade their capabilities.</a:t>
            </a:r>
          </a:p>
          <a:p>
            <a:pPr>
              <a:spcAft>
                <a:spcPts val="1600"/>
              </a:spcAft>
              <a:defRPr sz="1400" b="1">
                <a:solidFill>
                  <a:srgbClr val="7C6AF0"/>
                </a:solidFill>
                <a:latin typeface="Arial"/>
              </a:defRPr>
            </a:pPr>
            <a:r>
              <a:t>• AI Integration: </a:t>
            </a:r>
            <a:r>
              <a:rPr sz="1300" b="0">
                <a:solidFill>
                  <a:srgbClr val="A09EC0"/>
                </a:solidFill>
                <a:latin typeface="Arial"/>
              </a:rPr>
              <a:t>Embedded Google Gemini API curates customized learning trajectories and maps real-time industry trends.</a:t>
            </a:r>
          </a:p>
          <a:p>
            <a:pPr>
              <a:spcAft>
                <a:spcPts val="1600"/>
              </a:spcAft>
              <a:defRPr sz="1400" b="1">
                <a:solidFill>
                  <a:srgbClr val="7C6AF0"/>
                </a:solidFill>
                <a:latin typeface="Arial"/>
              </a:defRPr>
            </a:pPr>
            <a:r>
              <a:t>• Technical Stack: </a:t>
            </a:r>
            <a:r>
              <a:rPr sz="1300" b="0">
                <a:solidFill>
                  <a:srgbClr val="A09EC0"/>
                </a:solidFill>
                <a:latin typeface="Arial"/>
              </a:rPr>
              <a:t>React, TypeScript, Google Gemini SDK, Node.js, and Vite build wrapper.</a:t>
            </a:r>
          </a:p>
          <a:p>
            <a:pPr>
              <a:spcAft>
                <a:spcPts val="1600"/>
              </a:spcAft>
              <a:defRPr sz="1400" b="1">
                <a:solidFill>
                  <a:srgbClr val="7C6AF0"/>
                </a:solidFill>
                <a:latin typeface="Arial"/>
              </a:defRPr>
            </a:pPr>
            <a:r>
              <a:t>• Key Features: </a:t>
            </a:r>
            <a:r>
              <a:rPr sz="1300" b="0">
                <a:solidFill>
                  <a:srgbClr val="A09EC0"/>
                </a:solidFill>
                <a:latin typeface="Arial"/>
              </a:rPr>
              <a:t>Generates interactive roadmaps, defines daily learning checkpoints, and supports multi-language learning tracks.</a:t>
            </a:r>
          </a:p>
        </p:txBody>
      </p:sp>
      <p:pic>
        <p:nvPicPr>
          <p:cNvPr id="4" name="Picture 3" descr="05_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63040"/>
            <a:ext cx="4846320" cy="34075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84C"/>
                </a:solidFill>
                <a:latin typeface="Courier New"/>
              </a:defRPr>
            </a:pPr>
            <a:r>
              <a:t>05 -- CLIENT CASE STUDIES</a:t>
            </a:r>
          </a:p>
          <a:p>
            <a:pPr>
              <a:defRPr sz="2800" b="1">
                <a:solidFill>
                  <a:srgbClr val="F0EEFC"/>
                </a:solidFill>
                <a:latin typeface="Arial"/>
              </a:defRPr>
            </a:pPr>
            <a:r>
              <a:t>Growthlytics &amp; Momotantra Deployed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C9A84C"/>
                </a:solidFill>
                <a:latin typeface="Arial"/>
              </a:defRPr>
            </a:pPr>
            <a:r>
              <a:t>1. GROWTHLYTICS (Flagship Agency)</a:t>
            </a:r>
          </a:p>
          <a:p>
            <a:pPr>
              <a:spcAft>
                <a:spcPts val="1800"/>
              </a:spcAft>
              <a:defRPr sz="1200">
                <a:solidFill>
                  <a:srgbClr val="A09EC0"/>
                </a:solidFill>
                <a:latin typeface="Arial"/>
              </a:defRPr>
            </a:pPr>
            <a:r>
              <a:t>• Flagship agency portal offering local business scaling, AI diagnostics, and custom SEO management dashboards.</a:t>
            </a:r>
            <a:br/>
            <a:r>
              <a:t>• Purpose: Bridge the digital divide for small vendors in West Bengal.</a:t>
            </a:r>
            <a:br/>
            <a:r>
              <a:t>• Live Link: growthlytics-s6rd.vercel.app</a:t>
            </a:r>
          </a:p>
          <a:p>
            <a:pPr>
              <a:spcAft>
                <a:spcPts val="400"/>
              </a:spcAft>
              <a:defRPr sz="1600" b="1">
                <a:solidFill>
                  <a:srgbClr val="36D9C4"/>
                </a:solidFill>
                <a:latin typeface="Arial"/>
              </a:defRPr>
            </a:pPr>
            <a:r>
              <a:t>2. MOMOTANTRA (Digital Menu &amp; Billing)</a:t>
            </a:r>
          </a:p>
          <a:p>
            <a:pPr>
              <a:defRPr sz="1200">
                <a:solidFill>
                  <a:srgbClr val="A09EC0"/>
                </a:solidFill>
                <a:latin typeface="Arial"/>
              </a:defRPr>
            </a:pPr>
            <a:r>
              <a:t>• Premium interactive digital menu card and checkout panel designed for street-side food stalls and momo vendors.</a:t>
            </a:r>
            <a:br/>
            <a:r>
              <a:t>• Purpose: Accelerate checkout speeds, automate billing invoices, and minimize customer queues.</a:t>
            </a:r>
            <a:br/>
            <a:r>
              <a:t>• Live Link: momotantra-app-a3mw.vercel.app</a:t>
            </a:r>
          </a:p>
        </p:txBody>
      </p:sp>
      <p:pic>
        <p:nvPicPr>
          <p:cNvPr id="4" name="Picture 3" descr="screenshot_growth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2560320" cy="1655674"/>
          </a:xfrm>
          <a:prstGeom prst="rect">
            <a:avLst/>
          </a:prstGeom>
        </p:spPr>
      </p:pic>
      <p:pic>
        <p:nvPicPr>
          <p:cNvPr id="5" name="Picture 4" descr="screenshot_momotant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1463040"/>
            <a:ext cx="2560320" cy="16556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84C"/>
                </a:solidFill>
                <a:latin typeface="Courier New"/>
              </a:defRPr>
            </a:pPr>
            <a:r>
              <a:t>06 -- DIGITAL UTILITIES</a:t>
            </a:r>
          </a:p>
          <a:p>
            <a:pPr>
              <a:defRPr sz="2800" b="1">
                <a:solidFill>
                  <a:srgbClr val="F0EEFC"/>
                </a:solidFill>
                <a:latin typeface="Arial"/>
              </a:defRPr>
            </a:pPr>
            <a:r>
              <a:t>Rever Cafe &amp; RetailFlow Deployed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7C6AF0"/>
                </a:solidFill>
                <a:latin typeface="Arial"/>
              </a:defRPr>
            </a:pPr>
            <a:r>
              <a:t>3. REVER GLASS HOUSE CAFE</a:t>
            </a:r>
          </a:p>
          <a:p>
            <a:pPr>
              <a:spcAft>
                <a:spcPts val="1800"/>
              </a:spcAft>
              <a:defRPr sz="1200">
                <a:solidFill>
                  <a:srgbClr val="A09EC0"/>
                </a:solidFill>
                <a:latin typeface="Arial"/>
              </a:defRPr>
            </a:pPr>
            <a:r>
              <a:t>• Luxury-themed sensory landing page and booking interface built for a modern aesthetic cafe network.</a:t>
            </a:r>
            <a:br/>
            <a:r>
              <a:t>• Features: Interactive booking scheduler, animated menus, and integrated feedback portals.</a:t>
            </a:r>
            <a:br/>
            <a:r>
              <a:t>• Live Link: revercafe.vercel.app</a:t>
            </a:r>
          </a:p>
          <a:p>
            <a:pPr>
              <a:spcAft>
                <a:spcPts val="400"/>
              </a:spcAft>
              <a:defRPr sz="1600" b="1">
                <a:solidFill>
                  <a:srgbClr val="36D9C4"/>
                </a:solidFill>
                <a:latin typeface="Arial"/>
              </a:defRPr>
            </a:pPr>
            <a:r>
              <a:t>4. RETAILFLOW AI &amp; TECHAI</a:t>
            </a:r>
          </a:p>
          <a:p>
            <a:pPr>
              <a:defRPr sz="1200">
                <a:solidFill>
                  <a:srgbClr val="A09EC0"/>
                </a:solidFill>
                <a:latin typeface="Arial"/>
              </a:defRPr>
            </a:pPr>
            <a:r>
              <a:t>• Retail inventory modeling and sales tracking application utilizing time-series forecasting modules to predict stock demand and run custom ledger reports.</a:t>
            </a:r>
            <a:br/>
            <a:r>
              <a:t>• TechAI: Secure OTP authentication dashboard with AI coding agents.</a:t>
            </a:r>
            <a:br/>
            <a:r>
              <a:t>• Live Link: retailflow-ai-opal.vercel.app</a:t>
            </a:r>
          </a:p>
        </p:txBody>
      </p:sp>
      <p:pic>
        <p:nvPicPr>
          <p:cNvPr id="4" name="Picture 3" descr="screenshot_reverc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2560320" cy="1655674"/>
          </a:xfrm>
          <a:prstGeom prst="rect">
            <a:avLst/>
          </a:prstGeom>
        </p:spPr>
      </p:pic>
      <p:pic>
        <p:nvPicPr>
          <p:cNvPr id="5" name="Picture 4" descr="screenshot_retail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1463040"/>
            <a:ext cx="2560320" cy="16556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84C"/>
                </a:solidFill>
                <a:latin typeface="Courier New"/>
              </a:defRPr>
            </a:pPr>
            <a:r>
              <a:t>07 -- STRATEGIC ROADMAP</a:t>
            </a:r>
          </a:p>
          <a:p>
            <a:pPr>
              <a:defRPr sz="2800" b="1">
                <a:solidFill>
                  <a:srgbClr val="F0EEFC"/>
                </a:solidFill>
                <a:latin typeface="Arial"/>
              </a:defRPr>
            </a:pPr>
            <a:r>
              <a:t>Growthlytics Vision &amp; Expansion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400" b="1">
                <a:solidFill>
                  <a:srgbClr val="C9A84C"/>
                </a:solidFill>
                <a:latin typeface="Arial"/>
              </a:defRPr>
            </a:pPr>
            <a:r>
              <a:t>• Mission Statement: </a:t>
            </a:r>
            <a:r>
              <a:rPr sz="1300" b="0">
                <a:solidFill>
                  <a:srgbClr val="A09EC0"/>
                </a:solidFill>
                <a:latin typeface="Arial"/>
              </a:rPr>
              <a:t>Connecting offline to online. Democratize enterprise-grade digital tools (AI, SEO, databases) for local micro-vendors and MSMEs in West Bengal.</a:t>
            </a:r>
          </a:p>
          <a:p>
            <a:pPr>
              <a:spcAft>
                <a:spcPts val="1400"/>
              </a:spcAft>
              <a:defRPr sz="1400" b="1">
                <a:solidFill>
                  <a:srgbClr val="C9A84C"/>
                </a:solidFill>
                <a:latin typeface="Arial"/>
              </a:defRPr>
            </a:pPr>
            <a:r>
              <a:t>• Hyper-Local SEO Node: </a:t>
            </a:r>
            <a:r>
              <a:rPr sz="1300" b="0">
                <a:solidFill>
                  <a:srgbClr val="A09EC0"/>
                </a:solidFill>
                <a:latin typeface="Arial"/>
              </a:rPr>
              <a:t>Assisting vendors to expand local organic search discovery by optimized Google Business listings and custom SEO landing sheets.</a:t>
            </a:r>
          </a:p>
          <a:p>
            <a:pPr>
              <a:spcAft>
                <a:spcPts val="1400"/>
              </a:spcAft>
              <a:defRPr sz="1400" b="1">
                <a:solidFill>
                  <a:srgbClr val="C9A84C"/>
                </a:solidFill>
                <a:latin typeface="Arial"/>
              </a:defRPr>
            </a:pPr>
            <a:r>
              <a:t>• AI-Assisted Sales Modules: </a:t>
            </a:r>
            <a:r>
              <a:rPr sz="1300" b="0">
                <a:solidFill>
                  <a:srgbClr val="A09EC0"/>
                </a:solidFill>
                <a:latin typeface="Arial"/>
              </a:rPr>
              <a:t>Deploying cost-effective database structures (Advanced Excel, SQL tables) so street-side stores can forecast weekly inventory requirements.</a:t>
            </a:r>
          </a:p>
          <a:p>
            <a:pPr>
              <a:spcAft>
                <a:spcPts val="1400"/>
              </a:spcAft>
              <a:defRPr sz="1400" b="1">
                <a:solidFill>
                  <a:srgbClr val="C9A84C"/>
                </a:solidFill>
                <a:latin typeface="Arial"/>
              </a:defRPr>
            </a:pPr>
            <a:r>
              <a:t>• Hub Contacts: </a:t>
            </a:r>
            <a:r>
              <a:rPr sz="1300" b="0">
                <a:solidFill>
                  <a:srgbClr val="A09EC0"/>
                </a:solidFill>
                <a:latin typeface="Arial"/>
              </a:rPr>
              <a:t>Active Headquarters at 11/1 Arabinda Road, Konnagar, West Bengal, India. 24/7 hotline support (+91 98361 48511).</a:t>
            </a:r>
          </a:p>
        </p:txBody>
      </p:sp>
      <p:pic>
        <p:nvPicPr>
          <p:cNvPr id="4" name="Picture 3" descr="06_agency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84C"/>
                </a:solidFill>
                <a:latin typeface="Courier New"/>
              </a:defRPr>
            </a:pPr>
            <a:r>
              <a:t>08 -- CAREER TRACK</a:t>
            </a:r>
          </a:p>
          <a:p>
            <a:pPr>
              <a:defRPr sz="2800" b="1">
                <a:solidFill>
                  <a:srgbClr val="F0EEFC"/>
                </a:solidFill>
                <a:latin typeface="Arial"/>
              </a:defRPr>
            </a:pPr>
            <a:r>
              <a:t>Interactive Resume &amp; Professional Credentials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400" b="1">
                <a:solidFill>
                  <a:srgbClr val="36D9C4"/>
                </a:solidFill>
                <a:latin typeface="Arial"/>
              </a:defRPr>
            </a:pPr>
            <a:r>
              <a:t>• Work Experience: </a:t>
            </a:r>
            <a:r>
              <a:rPr sz="1300" b="0">
                <a:solidFill>
                  <a:srgbClr val="A09EC0"/>
                </a:solidFill>
                <a:latin typeface="Arial"/>
              </a:rPr>
              <a:t>Founder of Growthlytics (Present); Customer Service Associate &amp; Data Coordinator at Tech Mahindra (Jun 2025 - Feb 2026 - handled daily SLAs and weekly reports); Business Analytics Intern at Bharat Intern.</a:t>
            </a:r>
          </a:p>
          <a:p>
            <a:pPr>
              <a:spcAft>
                <a:spcPts val="1400"/>
              </a:spcAft>
              <a:defRPr sz="1400" b="1">
                <a:solidFill>
                  <a:srgbClr val="36D9C4"/>
                </a:solidFill>
                <a:latin typeface="Arial"/>
              </a:defRPr>
            </a:pPr>
            <a:r>
              <a:t>• Key Certifications: </a:t>
            </a:r>
            <a:r>
              <a:rPr sz="1300" b="0">
                <a:solidFill>
                  <a:srgbClr val="A09EC0"/>
                </a:solidFill>
                <a:latin typeface="Arial"/>
              </a:rPr>
              <a:t>Google Digital Marketing &amp; E-Commerce, Yale University Capital Markets, PwC Power BI Case, J.P. Morgan Global Finance, and J.P. Morgan Corporate Analyst Development.</a:t>
            </a:r>
          </a:p>
          <a:p>
            <a:pPr>
              <a:spcAft>
                <a:spcPts val="1400"/>
              </a:spcAft>
              <a:defRPr sz="1400" b="1">
                <a:solidFill>
                  <a:srgbClr val="36D9C4"/>
                </a:solidFill>
                <a:latin typeface="Arial"/>
              </a:defRPr>
            </a:pPr>
            <a:r>
              <a:t>• Academic Credentials: </a:t>
            </a:r>
            <a:r>
              <a:rPr sz="1300" b="0">
                <a:solidFill>
                  <a:srgbClr val="A09EC0"/>
                </a:solidFill>
                <a:latin typeface="Arial"/>
              </a:rPr>
              <a:t>Bachelor of Arts (2021 - 2024) from MGKVP University with CGPA of 6.62 / 10; commerce stream background (Class XII, 69%).</a:t>
            </a:r>
          </a:p>
          <a:p>
            <a:pPr>
              <a:spcAft>
                <a:spcPts val="1400"/>
              </a:spcAft>
              <a:defRPr sz="1400" b="1">
                <a:solidFill>
                  <a:srgbClr val="36D9C4"/>
                </a:solidFill>
                <a:latin typeface="Arial"/>
              </a:defRPr>
            </a:pPr>
            <a:r>
              <a:t>• Operations Record: </a:t>
            </a:r>
            <a:r>
              <a:rPr sz="1300" b="0">
                <a:solidFill>
                  <a:srgbClr val="A09EC0"/>
                </a:solidFill>
                <a:latin typeface="Arial"/>
              </a:rPr>
              <a:t>Coordinated outreach and data logging for 100+ entries as Campus Ambassador for E-Cell IIT Bombay.</a:t>
            </a:r>
          </a:p>
        </p:txBody>
      </p:sp>
      <p:pic>
        <p:nvPicPr>
          <p:cNvPr id="4" name="Picture 3" descr="07_res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846320" cy="34075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